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61" r:id="rId4"/>
    <p:sldId id="262" r:id="rId5"/>
    <p:sldId id="263"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E6E648-FAB0-B2B0-0440-66A33636FA29}" v="879" dt="2025-01-05T14:17:13.436"/>
    <p1510:client id="{E0DF4999-9AA0-BECF-7E55-A74C9E86FB8A}" v="1691" dt="2025-01-05T21:14:33.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44" autoAdjust="0"/>
    <p:restoredTop sz="94660"/>
  </p:normalViewPr>
  <p:slideViewPr>
    <p:cSldViewPr snapToGrid="0">
      <p:cViewPr>
        <p:scale>
          <a:sx n="66" d="100"/>
          <a:sy n="66" d="100"/>
        </p:scale>
        <p:origin x="124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4134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8077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57276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82043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80424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94887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41065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70401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14545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31375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180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039180457"/>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6450" y="1712913"/>
            <a:ext cx="8940800" cy="1079500"/>
          </a:xfrm>
        </p:spPr>
        <p:txBody>
          <a:bodyPr>
            <a:normAutofit/>
          </a:bodyPr>
          <a:lstStyle/>
          <a:p>
            <a:r>
              <a:rPr lang="en-US" sz="5400">
                <a:solidFill>
                  <a:srgbClr val="C00000"/>
                </a:solidFill>
              </a:rPr>
              <a:t>VIRTUAL MACHINE DABOARD</a:t>
            </a:r>
          </a:p>
        </p:txBody>
      </p:sp>
      <p:pic>
        <p:nvPicPr>
          <p:cNvPr id="4" name="Picture 3" descr="A red text on a black background&#10;&#10;Description automatically generated">
            <a:extLst>
              <a:ext uri="{FF2B5EF4-FFF2-40B4-BE49-F238E27FC236}">
                <a16:creationId xmlns:a16="http://schemas.microsoft.com/office/drawing/2014/main" id="{E940BFAC-C2FB-1E37-F681-73B172A0C7CD}"/>
              </a:ext>
            </a:extLst>
          </p:cNvPr>
          <p:cNvPicPr>
            <a:picLocks noChangeAspect="1"/>
          </p:cNvPicPr>
          <p:nvPr/>
        </p:nvPicPr>
        <p:blipFill>
          <a:blip r:embed="rId2"/>
          <a:stretch>
            <a:fillRect/>
          </a:stretch>
        </p:blipFill>
        <p:spPr>
          <a:xfrm>
            <a:off x="10020300" y="0"/>
            <a:ext cx="2984500" cy="723900"/>
          </a:xfrm>
          <a:prstGeom prst="rect">
            <a:avLst/>
          </a:prstGeom>
        </p:spPr>
      </p:pic>
      <p:sp>
        <p:nvSpPr>
          <p:cNvPr id="5" name="Rectangle 4">
            <a:extLst>
              <a:ext uri="{FF2B5EF4-FFF2-40B4-BE49-F238E27FC236}">
                <a16:creationId xmlns:a16="http://schemas.microsoft.com/office/drawing/2014/main" id="{C7D6F332-734E-33E6-0442-328A39DC9B97}"/>
              </a:ext>
            </a:extLst>
          </p:cNvPr>
          <p:cNvSpPr/>
          <p:nvPr/>
        </p:nvSpPr>
        <p:spPr>
          <a:xfrm>
            <a:off x="-706" y="705"/>
            <a:ext cx="1562100" cy="685800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F35D8EA-1EB2-0946-6B67-623F81DABBFD}"/>
              </a:ext>
            </a:extLst>
          </p:cNvPr>
          <p:cNvSpPr txBox="1"/>
          <p:nvPr/>
        </p:nvSpPr>
        <p:spPr>
          <a:xfrm>
            <a:off x="2449689" y="2862438"/>
            <a:ext cx="856544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C00000"/>
                </a:solidFill>
              </a:rPr>
              <a:t>A Virtual Machine Dashboard for adding, deleting and editing VMs, with table and card view for display. A disks section to show all the disks attached to the VMs with a analytics section to monitor the different aspects for the dashboard. An Admin Dashboard with the With Full RBAC implemented, with the ability add create and edit users and monitor their statistics in the analytics section.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6917-3CF7-17B7-ED34-5C4362E3B981}"/>
              </a:ext>
            </a:extLst>
          </p:cNvPr>
          <p:cNvSpPr>
            <a:spLocks noGrp="1"/>
          </p:cNvSpPr>
          <p:nvPr>
            <p:ph type="title"/>
          </p:nvPr>
        </p:nvSpPr>
        <p:spPr>
          <a:xfrm>
            <a:off x="1504950" y="466725"/>
            <a:ext cx="9848850" cy="1249363"/>
          </a:xfrm>
        </p:spPr>
        <p:txBody>
          <a:bodyPr/>
          <a:lstStyle/>
          <a:p>
            <a:r>
              <a:rPr lang="en-US" dirty="0">
                <a:solidFill>
                  <a:srgbClr val="C00000"/>
                </a:solidFill>
              </a:rPr>
              <a:t>USER PORTAL</a:t>
            </a:r>
          </a:p>
        </p:txBody>
      </p:sp>
      <p:sp>
        <p:nvSpPr>
          <p:cNvPr id="3" name="Content Placeholder 2">
            <a:extLst>
              <a:ext uri="{FF2B5EF4-FFF2-40B4-BE49-F238E27FC236}">
                <a16:creationId xmlns:a16="http://schemas.microsoft.com/office/drawing/2014/main" id="{033A511E-43E4-AB32-F5FF-689CE5717F51}"/>
              </a:ext>
            </a:extLst>
          </p:cNvPr>
          <p:cNvSpPr>
            <a:spLocks noGrp="1"/>
          </p:cNvSpPr>
          <p:nvPr>
            <p:ph idx="1"/>
          </p:nvPr>
        </p:nvSpPr>
        <p:spPr>
          <a:xfrm>
            <a:off x="1504950" y="1844675"/>
            <a:ext cx="9848850" cy="4332288"/>
          </a:xfrm>
        </p:spPr>
        <p:txBody>
          <a:bodyPr vert="horz" lIns="91440" tIns="45720" rIns="91440" bIns="45720" rtlCol="0" anchor="t">
            <a:normAutofit/>
          </a:bodyPr>
          <a:lstStyle/>
          <a:p>
            <a:r>
              <a:rPr lang="en-US" sz="2000" dirty="0">
                <a:solidFill>
                  <a:srgbClr val="C00000"/>
                </a:solidFill>
              </a:rPr>
              <a:t>User Login and Signup Page.</a:t>
            </a:r>
          </a:p>
          <a:p>
            <a:r>
              <a:rPr lang="en-US" sz="2000" dirty="0">
                <a:solidFill>
                  <a:srgbClr val="C00000"/>
                </a:solidFill>
              </a:rPr>
              <a:t>ADD/EDIT/CREATE VM for users.</a:t>
            </a:r>
          </a:p>
          <a:p>
            <a:r>
              <a:rPr lang="en-US" sz="2000" dirty="0">
                <a:solidFill>
                  <a:srgbClr val="C00000"/>
                </a:solidFill>
              </a:rPr>
              <a:t>Table and card Views for VMs.</a:t>
            </a:r>
          </a:p>
          <a:p>
            <a:r>
              <a:rPr lang="en-US" sz="2000" dirty="0">
                <a:solidFill>
                  <a:srgbClr val="C00000"/>
                </a:solidFill>
              </a:rPr>
              <a:t>Disks Section To Monitor the disks.</a:t>
            </a:r>
          </a:p>
          <a:p>
            <a:r>
              <a:rPr lang="en-US" sz="2000" dirty="0">
                <a:solidFill>
                  <a:srgbClr val="C00000"/>
                </a:solidFill>
              </a:rPr>
              <a:t>Analytics Section showing different stats for VMs using Recharts Library</a:t>
            </a:r>
          </a:p>
          <a:p>
            <a:r>
              <a:rPr lang="en-US" sz="2000" dirty="0">
                <a:solidFill>
                  <a:srgbClr val="C00000"/>
                </a:solidFill>
              </a:rPr>
              <a:t>RBAC with different user types and their permission.</a:t>
            </a:r>
          </a:p>
          <a:p>
            <a:pPr marL="0" indent="0">
              <a:buNone/>
            </a:pPr>
            <a:r>
              <a:rPr lang="en-US" sz="2000" dirty="0">
                <a:solidFill>
                  <a:srgbClr val="C00000"/>
                </a:solidFill>
              </a:rPr>
              <a:t>  </a:t>
            </a:r>
            <a:endParaRPr lang="en-US" dirty="0"/>
          </a:p>
          <a:p>
            <a:endParaRPr lang="en-US" dirty="0">
              <a:solidFill>
                <a:srgbClr val="C00000"/>
              </a:solidFill>
            </a:endParaRPr>
          </a:p>
          <a:p>
            <a:endParaRPr lang="en-US" dirty="0">
              <a:solidFill>
                <a:srgbClr val="C00000"/>
              </a:solidFill>
            </a:endParaRPr>
          </a:p>
          <a:p>
            <a:endParaRPr lang="en-US" dirty="0">
              <a:solidFill>
                <a:srgbClr val="C00000"/>
              </a:solidFill>
            </a:endParaRPr>
          </a:p>
        </p:txBody>
      </p:sp>
      <p:sp>
        <p:nvSpPr>
          <p:cNvPr id="4" name="Rectangle 3">
            <a:extLst>
              <a:ext uri="{FF2B5EF4-FFF2-40B4-BE49-F238E27FC236}">
                <a16:creationId xmlns:a16="http://schemas.microsoft.com/office/drawing/2014/main" id="{A8531876-E307-F055-C560-2C415F581AEF}"/>
              </a:ext>
            </a:extLst>
          </p:cNvPr>
          <p:cNvSpPr/>
          <p:nvPr/>
        </p:nvSpPr>
        <p:spPr>
          <a:xfrm>
            <a:off x="2116" y="2116"/>
            <a:ext cx="1498600" cy="6858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red text on a black background&#10;&#10;Description automatically generated">
            <a:extLst>
              <a:ext uri="{FF2B5EF4-FFF2-40B4-BE49-F238E27FC236}">
                <a16:creationId xmlns:a16="http://schemas.microsoft.com/office/drawing/2014/main" id="{1DFA539F-8CDA-7270-94A9-50FB409B9335}"/>
              </a:ext>
            </a:extLst>
          </p:cNvPr>
          <p:cNvPicPr>
            <a:picLocks noChangeAspect="1"/>
          </p:cNvPicPr>
          <p:nvPr/>
        </p:nvPicPr>
        <p:blipFill>
          <a:blip r:embed="rId2"/>
          <a:stretch>
            <a:fillRect/>
          </a:stretch>
        </p:blipFill>
        <p:spPr>
          <a:xfrm>
            <a:off x="10020300" y="0"/>
            <a:ext cx="2984500" cy="723900"/>
          </a:xfrm>
          <a:prstGeom prst="rect">
            <a:avLst/>
          </a:prstGeom>
        </p:spPr>
      </p:pic>
    </p:spTree>
    <p:extLst>
      <p:ext uri="{BB962C8B-B14F-4D97-AF65-F5344CB8AC3E}">
        <p14:creationId xmlns:p14="http://schemas.microsoft.com/office/powerpoint/2010/main" val="1821455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6917-3CF7-17B7-ED34-5C4362E3B981}"/>
              </a:ext>
            </a:extLst>
          </p:cNvPr>
          <p:cNvSpPr>
            <a:spLocks noGrp="1"/>
          </p:cNvSpPr>
          <p:nvPr>
            <p:ph type="title"/>
          </p:nvPr>
        </p:nvSpPr>
        <p:spPr>
          <a:xfrm>
            <a:off x="1504950" y="466725"/>
            <a:ext cx="9848850" cy="1249363"/>
          </a:xfrm>
        </p:spPr>
        <p:txBody>
          <a:bodyPr/>
          <a:lstStyle/>
          <a:p>
            <a:r>
              <a:rPr lang="en-US" dirty="0">
                <a:solidFill>
                  <a:srgbClr val="C00000"/>
                </a:solidFill>
              </a:rPr>
              <a:t>ADMIN PORTAL</a:t>
            </a:r>
          </a:p>
        </p:txBody>
      </p:sp>
      <p:sp>
        <p:nvSpPr>
          <p:cNvPr id="3" name="Content Placeholder 2">
            <a:extLst>
              <a:ext uri="{FF2B5EF4-FFF2-40B4-BE49-F238E27FC236}">
                <a16:creationId xmlns:a16="http://schemas.microsoft.com/office/drawing/2014/main" id="{033A511E-43E4-AB32-F5FF-689CE5717F51}"/>
              </a:ext>
            </a:extLst>
          </p:cNvPr>
          <p:cNvSpPr>
            <a:spLocks noGrp="1"/>
          </p:cNvSpPr>
          <p:nvPr>
            <p:ph idx="1"/>
          </p:nvPr>
        </p:nvSpPr>
        <p:spPr>
          <a:xfrm>
            <a:off x="1504950" y="1844675"/>
            <a:ext cx="9848850" cy="4332288"/>
          </a:xfrm>
        </p:spPr>
        <p:txBody>
          <a:bodyPr vert="horz" lIns="91440" tIns="45720" rIns="91440" bIns="45720" rtlCol="0" anchor="t">
            <a:normAutofit/>
          </a:bodyPr>
          <a:lstStyle/>
          <a:p>
            <a:r>
              <a:rPr lang="en-US" sz="2000" dirty="0">
                <a:solidFill>
                  <a:srgbClr val="C00000"/>
                </a:solidFill>
              </a:rPr>
              <a:t>User Login and Signup Page.</a:t>
            </a:r>
          </a:p>
          <a:p>
            <a:r>
              <a:rPr lang="en-US" sz="2000" dirty="0">
                <a:solidFill>
                  <a:srgbClr val="C00000"/>
                </a:solidFill>
              </a:rPr>
              <a:t>ADD/EDIT/DELETE users.</a:t>
            </a:r>
          </a:p>
          <a:p>
            <a:r>
              <a:rPr lang="en-US" sz="2000" dirty="0">
                <a:solidFill>
                  <a:srgbClr val="C00000"/>
                </a:solidFill>
              </a:rPr>
              <a:t>Analytics Section to monitor user trends and other related data.</a:t>
            </a:r>
          </a:p>
          <a:p>
            <a:r>
              <a:rPr lang="en-US" sz="2000" dirty="0">
                <a:solidFill>
                  <a:srgbClr val="C00000"/>
                </a:solidFill>
              </a:rPr>
              <a:t>Analytics Section showing different stats for VMs using Recharts Library</a:t>
            </a:r>
          </a:p>
          <a:p>
            <a:r>
              <a:rPr lang="en-US" sz="2000" dirty="0">
                <a:solidFill>
                  <a:srgbClr val="C00000"/>
                </a:solidFill>
              </a:rPr>
              <a:t>RBAC with different user types and their permission.</a:t>
            </a:r>
            <a:endParaRPr lang="en-US" dirty="0">
              <a:solidFill>
                <a:srgbClr val="C00000"/>
              </a:solidFill>
            </a:endParaRPr>
          </a:p>
          <a:p>
            <a:endParaRPr lang="en-US" dirty="0">
              <a:solidFill>
                <a:srgbClr val="C00000"/>
              </a:solidFill>
            </a:endParaRPr>
          </a:p>
          <a:p>
            <a:endParaRPr lang="en-US" dirty="0">
              <a:solidFill>
                <a:srgbClr val="C00000"/>
              </a:solidFill>
            </a:endParaRPr>
          </a:p>
        </p:txBody>
      </p:sp>
      <p:sp>
        <p:nvSpPr>
          <p:cNvPr id="4" name="Rectangle 3">
            <a:extLst>
              <a:ext uri="{FF2B5EF4-FFF2-40B4-BE49-F238E27FC236}">
                <a16:creationId xmlns:a16="http://schemas.microsoft.com/office/drawing/2014/main" id="{A8531876-E307-F055-C560-2C415F581AEF}"/>
              </a:ext>
            </a:extLst>
          </p:cNvPr>
          <p:cNvSpPr/>
          <p:nvPr/>
        </p:nvSpPr>
        <p:spPr>
          <a:xfrm>
            <a:off x="2116" y="2116"/>
            <a:ext cx="1498600" cy="6858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red text on a black background&#10;&#10;Description automatically generated">
            <a:extLst>
              <a:ext uri="{FF2B5EF4-FFF2-40B4-BE49-F238E27FC236}">
                <a16:creationId xmlns:a16="http://schemas.microsoft.com/office/drawing/2014/main" id="{1DFA539F-8CDA-7270-94A9-50FB409B9335}"/>
              </a:ext>
            </a:extLst>
          </p:cNvPr>
          <p:cNvPicPr>
            <a:picLocks noChangeAspect="1"/>
          </p:cNvPicPr>
          <p:nvPr/>
        </p:nvPicPr>
        <p:blipFill>
          <a:blip r:embed="rId2"/>
          <a:stretch>
            <a:fillRect/>
          </a:stretch>
        </p:blipFill>
        <p:spPr>
          <a:xfrm>
            <a:off x="10020300" y="0"/>
            <a:ext cx="2984500" cy="723900"/>
          </a:xfrm>
          <a:prstGeom prst="rect">
            <a:avLst/>
          </a:prstGeom>
        </p:spPr>
      </p:pic>
    </p:spTree>
    <p:extLst>
      <p:ext uri="{BB962C8B-B14F-4D97-AF65-F5344CB8AC3E}">
        <p14:creationId xmlns:p14="http://schemas.microsoft.com/office/powerpoint/2010/main" val="534101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6917-3CF7-17B7-ED34-5C4362E3B981}"/>
              </a:ext>
            </a:extLst>
          </p:cNvPr>
          <p:cNvSpPr>
            <a:spLocks noGrp="1"/>
          </p:cNvSpPr>
          <p:nvPr>
            <p:ph type="title"/>
          </p:nvPr>
        </p:nvSpPr>
        <p:spPr>
          <a:xfrm>
            <a:off x="1504950" y="466725"/>
            <a:ext cx="9848850" cy="1249363"/>
          </a:xfrm>
        </p:spPr>
        <p:txBody>
          <a:bodyPr/>
          <a:lstStyle/>
          <a:p>
            <a:r>
              <a:rPr lang="en-US" dirty="0">
                <a:solidFill>
                  <a:srgbClr val="C00000"/>
                </a:solidFill>
              </a:rPr>
              <a:t>Implementation</a:t>
            </a:r>
          </a:p>
        </p:txBody>
      </p:sp>
      <p:sp>
        <p:nvSpPr>
          <p:cNvPr id="3" name="Content Placeholder 2">
            <a:extLst>
              <a:ext uri="{FF2B5EF4-FFF2-40B4-BE49-F238E27FC236}">
                <a16:creationId xmlns:a16="http://schemas.microsoft.com/office/drawing/2014/main" id="{033A511E-43E4-AB32-F5FF-689CE5717F51}"/>
              </a:ext>
            </a:extLst>
          </p:cNvPr>
          <p:cNvSpPr>
            <a:spLocks noGrp="1"/>
          </p:cNvSpPr>
          <p:nvPr>
            <p:ph idx="1"/>
          </p:nvPr>
        </p:nvSpPr>
        <p:spPr>
          <a:xfrm>
            <a:off x="1504950" y="1844675"/>
            <a:ext cx="9848850" cy="4332288"/>
          </a:xfrm>
        </p:spPr>
        <p:txBody>
          <a:bodyPr vert="horz" lIns="91440" tIns="45720" rIns="91440" bIns="45720" rtlCol="0" anchor="t">
            <a:normAutofit/>
          </a:bodyPr>
          <a:lstStyle/>
          <a:p>
            <a:r>
              <a:rPr lang="en-US" sz="2000" dirty="0">
                <a:solidFill>
                  <a:srgbClr val="C00000"/>
                </a:solidFill>
              </a:rPr>
              <a:t>Session </a:t>
            </a:r>
            <a:r>
              <a:rPr lang="en-US" sz="2000" dirty="0" err="1">
                <a:solidFill>
                  <a:srgbClr val="C00000"/>
                </a:solidFill>
              </a:rPr>
              <a:t>managemenet</a:t>
            </a:r>
            <a:r>
              <a:rPr lang="en-US" sz="2000" dirty="0">
                <a:solidFill>
                  <a:srgbClr val="C00000"/>
                </a:solidFill>
              </a:rPr>
              <a:t> using </a:t>
            </a:r>
            <a:r>
              <a:rPr lang="en-US" sz="2000" dirty="0" err="1">
                <a:solidFill>
                  <a:srgbClr val="C00000"/>
                </a:solidFill>
              </a:rPr>
              <a:t>Expess</a:t>
            </a:r>
            <a:r>
              <a:rPr lang="en-US" sz="2000" dirty="0">
                <a:solidFill>
                  <a:srgbClr val="C00000"/>
                </a:solidFill>
              </a:rPr>
              <a:t> Session and Context API.</a:t>
            </a:r>
          </a:p>
          <a:p>
            <a:r>
              <a:rPr lang="en-US" sz="2000" dirty="0">
                <a:solidFill>
                  <a:srgbClr val="C00000"/>
                </a:solidFill>
              </a:rPr>
              <a:t>Micro services architecture implemented on backend.</a:t>
            </a:r>
          </a:p>
          <a:p>
            <a:r>
              <a:rPr lang="en-US" sz="2000" dirty="0" err="1">
                <a:solidFill>
                  <a:srgbClr val="C00000"/>
                </a:solidFill>
              </a:rPr>
              <a:t>Formik</a:t>
            </a:r>
            <a:r>
              <a:rPr lang="en-US" sz="2000" dirty="0">
                <a:solidFill>
                  <a:srgbClr val="C00000"/>
                </a:solidFill>
              </a:rPr>
              <a:t> and Yup validation on frontend and backend.</a:t>
            </a:r>
          </a:p>
          <a:p>
            <a:r>
              <a:rPr lang="en-US" sz="2000" dirty="0">
                <a:solidFill>
                  <a:srgbClr val="C00000"/>
                </a:solidFill>
              </a:rPr>
              <a:t>Graphs and charts using recharts library in react.</a:t>
            </a:r>
          </a:p>
          <a:p>
            <a:r>
              <a:rPr lang="en-US" sz="2000" dirty="0" err="1">
                <a:solidFill>
                  <a:srgbClr val="C00000"/>
                </a:solidFill>
              </a:rPr>
              <a:t>Materail</a:t>
            </a:r>
            <a:r>
              <a:rPr lang="en-US" sz="2000" dirty="0">
                <a:solidFill>
                  <a:srgbClr val="C00000"/>
                </a:solidFill>
              </a:rPr>
              <a:t> UI and Its components added on the frontend.</a:t>
            </a:r>
          </a:p>
          <a:p>
            <a:r>
              <a:rPr lang="en-US" sz="2000" dirty="0">
                <a:solidFill>
                  <a:srgbClr val="C00000"/>
                </a:solidFill>
              </a:rPr>
              <a:t>Implemented security best practices to make the application more secure.</a:t>
            </a:r>
          </a:p>
          <a:p>
            <a:endParaRPr lang="en-US" sz="2000" dirty="0">
              <a:solidFill>
                <a:srgbClr val="C00000"/>
              </a:solidFill>
            </a:endParaRPr>
          </a:p>
          <a:p>
            <a:pPr marL="0" indent="0">
              <a:buNone/>
            </a:pPr>
            <a:r>
              <a:rPr lang="en-US" sz="2000" dirty="0">
                <a:solidFill>
                  <a:srgbClr val="C00000"/>
                </a:solidFill>
              </a:rPr>
              <a:t>  </a:t>
            </a:r>
            <a:endParaRPr lang="en-US" dirty="0"/>
          </a:p>
          <a:p>
            <a:endParaRPr lang="en-US" dirty="0">
              <a:solidFill>
                <a:srgbClr val="C00000"/>
              </a:solidFill>
            </a:endParaRPr>
          </a:p>
          <a:p>
            <a:endParaRPr lang="en-US" dirty="0">
              <a:solidFill>
                <a:srgbClr val="C00000"/>
              </a:solidFill>
            </a:endParaRPr>
          </a:p>
          <a:p>
            <a:endParaRPr lang="en-US" dirty="0">
              <a:solidFill>
                <a:srgbClr val="C00000"/>
              </a:solidFill>
            </a:endParaRPr>
          </a:p>
        </p:txBody>
      </p:sp>
      <p:sp>
        <p:nvSpPr>
          <p:cNvPr id="4" name="Rectangle 3">
            <a:extLst>
              <a:ext uri="{FF2B5EF4-FFF2-40B4-BE49-F238E27FC236}">
                <a16:creationId xmlns:a16="http://schemas.microsoft.com/office/drawing/2014/main" id="{A8531876-E307-F055-C560-2C415F581AEF}"/>
              </a:ext>
            </a:extLst>
          </p:cNvPr>
          <p:cNvSpPr/>
          <p:nvPr/>
        </p:nvSpPr>
        <p:spPr>
          <a:xfrm>
            <a:off x="2116" y="2116"/>
            <a:ext cx="1498600" cy="6858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red text on a black background&#10;&#10;Description automatically generated">
            <a:extLst>
              <a:ext uri="{FF2B5EF4-FFF2-40B4-BE49-F238E27FC236}">
                <a16:creationId xmlns:a16="http://schemas.microsoft.com/office/drawing/2014/main" id="{1DFA539F-8CDA-7270-94A9-50FB409B9335}"/>
              </a:ext>
            </a:extLst>
          </p:cNvPr>
          <p:cNvPicPr>
            <a:picLocks noChangeAspect="1"/>
          </p:cNvPicPr>
          <p:nvPr/>
        </p:nvPicPr>
        <p:blipFill>
          <a:blip r:embed="rId2"/>
          <a:stretch>
            <a:fillRect/>
          </a:stretch>
        </p:blipFill>
        <p:spPr>
          <a:xfrm>
            <a:off x="10020300" y="0"/>
            <a:ext cx="2984500" cy="723900"/>
          </a:xfrm>
          <a:prstGeom prst="rect">
            <a:avLst/>
          </a:prstGeom>
        </p:spPr>
      </p:pic>
    </p:spTree>
    <p:extLst>
      <p:ext uri="{BB962C8B-B14F-4D97-AF65-F5344CB8AC3E}">
        <p14:creationId xmlns:p14="http://schemas.microsoft.com/office/powerpoint/2010/main" val="34961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6917-3CF7-17B7-ED34-5C4362E3B981}"/>
              </a:ext>
            </a:extLst>
          </p:cNvPr>
          <p:cNvSpPr>
            <a:spLocks noGrp="1"/>
          </p:cNvSpPr>
          <p:nvPr>
            <p:ph type="title"/>
          </p:nvPr>
        </p:nvSpPr>
        <p:spPr>
          <a:xfrm>
            <a:off x="1504950" y="466725"/>
            <a:ext cx="9848850" cy="1249363"/>
          </a:xfrm>
        </p:spPr>
        <p:txBody>
          <a:bodyPr/>
          <a:lstStyle/>
          <a:p>
            <a:r>
              <a:rPr lang="en-US" dirty="0">
                <a:solidFill>
                  <a:srgbClr val="C00000"/>
                </a:solidFill>
              </a:rPr>
              <a:t>Concepts and Topics Covered</a:t>
            </a:r>
          </a:p>
        </p:txBody>
      </p:sp>
      <p:sp>
        <p:nvSpPr>
          <p:cNvPr id="3" name="Content Placeholder 2">
            <a:extLst>
              <a:ext uri="{FF2B5EF4-FFF2-40B4-BE49-F238E27FC236}">
                <a16:creationId xmlns:a16="http://schemas.microsoft.com/office/drawing/2014/main" id="{033A511E-43E4-AB32-F5FF-689CE5717F51}"/>
              </a:ext>
            </a:extLst>
          </p:cNvPr>
          <p:cNvSpPr>
            <a:spLocks noGrp="1"/>
          </p:cNvSpPr>
          <p:nvPr>
            <p:ph idx="1"/>
          </p:nvPr>
        </p:nvSpPr>
        <p:spPr>
          <a:xfrm>
            <a:off x="1575506" y="2204508"/>
            <a:ext cx="9848850" cy="3146955"/>
          </a:xfrm>
        </p:spPr>
        <p:txBody>
          <a:bodyPr vert="horz" lIns="91440" tIns="45720" rIns="91440" bIns="45720" rtlCol="0" anchor="t">
            <a:normAutofit fontScale="40000" lnSpcReduction="20000"/>
          </a:bodyPr>
          <a:lstStyle/>
          <a:p>
            <a:r>
              <a:rPr lang="en-US" sz="3100" dirty="0">
                <a:solidFill>
                  <a:srgbClr val="C00000"/>
                </a:solidFill>
              </a:rPr>
              <a:t>Context API.</a:t>
            </a:r>
          </a:p>
          <a:p>
            <a:r>
              <a:rPr lang="en-US" sz="3100" dirty="0" err="1">
                <a:solidFill>
                  <a:srgbClr val="C00000"/>
                </a:solidFill>
              </a:rPr>
              <a:t>Connditional</a:t>
            </a:r>
            <a:r>
              <a:rPr lang="en-US" sz="3100" dirty="0">
                <a:solidFill>
                  <a:srgbClr val="C00000"/>
                </a:solidFill>
              </a:rPr>
              <a:t> Rendering.</a:t>
            </a:r>
          </a:p>
          <a:p>
            <a:r>
              <a:rPr lang="en-US" sz="3100" dirty="0">
                <a:solidFill>
                  <a:srgbClr val="C00000"/>
                </a:solidFill>
              </a:rPr>
              <a:t>Hooks Like, </a:t>
            </a:r>
            <a:r>
              <a:rPr lang="en-US" sz="3100" dirty="0" err="1">
                <a:solidFill>
                  <a:srgbClr val="C00000"/>
                </a:solidFill>
              </a:rPr>
              <a:t>UseState</a:t>
            </a:r>
            <a:r>
              <a:rPr lang="en-US" sz="3100" dirty="0">
                <a:solidFill>
                  <a:srgbClr val="C00000"/>
                </a:solidFill>
              </a:rPr>
              <a:t>, </a:t>
            </a:r>
            <a:r>
              <a:rPr lang="en-US" sz="3100" dirty="0" err="1">
                <a:solidFill>
                  <a:srgbClr val="C00000"/>
                </a:solidFill>
              </a:rPr>
              <a:t>UseEffect,UseContext</a:t>
            </a:r>
            <a:r>
              <a:rPr lang="en-US" sz="3100" dirty="0">
                <a:solidFill>
                  <a:srgbClr val="C00000"/>
                </a:solidFill>
              </a:rPr>
              <a:t> and custom hooks.</a:t>
            </a:r>
          </a:p>
          <a:p>
            <a:r>
              <a:rPr lang="en-US" sz="3100" dirty="0">
                <a:solidFill>
                  <a:srgbClr val="C00000"/>
                </a:solidFill>
              </a:rPr>
              <a:t>Updater Functions.</a:t>
            </a:r>
          </a:p>
          <a:p>
            <a:r>
              <a:rPr lang="en-US" sz="3100" dirty="0">
                <a:solidFill>
                  <a:srgbClr val="C00000"/>
                </a:solidFill>
              </a:rPr>
              <a:t>Components and their </a:t>
            </a:r>
            <a:r>
              <a:rPr lang="en-US" sz="3100" dirty="0" err="1">
                <a:solidFill>
                  <a:srgbClr val="C00000"/>
                </a:solidFill>
              </a:rPr>
              <a:t>LifeCycle</a:t>
            </a:r>
            <a:r>
              <a:rPr lang="en-US" sz="3100" dirty="0">
                <a:solidFill>
                  <a:srgbClr val="C00000"/>
                </a:solidFill>
              </a:rPr>
              <a:t>.</a:t>
            </a:r>
          </a:p>
          <a:p>
            <a:r>
              <a:rPr lang="en-US" sz="3100" dirty="0">
                <a:solidFill>
                  <a:srgbClr val="C00000"/>
                </a:solidFill>
              </a:rPr>
              <a:t>React Lists.</a:t>
            </a:r>
          </a:p>
          <a:p>
            <a:r>
              <a:rPr lang="en-US" sz="3100" dirty="0">
                <a:solidFill>
                  <a:srgbClr val="C00000"/>
                </a:solidFill>
              </a:rPr>
              <a:t>React Props.</a:t>
            </a:r>
          </a:p>
          <a:p>
            <a:r>
              <a:rPr lang="en-US" sz="3100" dirty="0">
                <a:solidFill>
                  <a:srgbClr val="C00000"/>
                </a:solidFill>
              </a:rPr>
              <a:t>React Events</a:t>
            </a:r>
          </a:p>
          <a:p>
            <a:r>
              <a:rPr lang="en-US" sz="3100" dirty="0">
                <a:solidFill>
                  <a:srgbClr val="C00000"/>
                </a:solidFill>
              </a:rPr>
              <a:t>Axios requests and response life cycle</a:t>
            </a:r>
          </a:p>
          <a:p>
            <a:endParaRPr lang="en-US" sz="2000" dirty="0">
              <a:solidFill>
                <a:srgbClr val="C00000"/>
              </a:solidFill>
            </a:endParaRPr>
          </a:p>
          <a:p>
            <a:endParaRPr lang="en-US" sz="2000" dirty="0">
              <a:solidFill>
                <a:srgbClr val="C00000"/>
              </a:solidFill>
            </a:endParaRPr>
          </a:p>
          <a:p>
            <a:pPr marL="0" indent="0">
              <a:buNone/>
            </a:pPr>
            <a:r>
              <a:rPr lang="en-US" sz="2000" dirty="0">
                <a:solidFill>
                  <a:srgbClr val="C00000"/>
                </a:solidFill>
              </a:rPr>
              <a:t>  </a:t>
            </a:r>
            <a:endParaRPr lang="en-US" dirty="0"/>
          </a:p>
          <a:p>
            <a:endParaRPr lang="en-US" dirty="0">
              <a:solidFill>
                <a:srgbClr val="C00000"/>
              </a:solidFill>
            </a:endParaRPr>
          </a:p>
          <a:p>
            <a:endParaRPr lang="en-US" dirty="0">
              <a:solidFill>
                <a:srgbClr val="C00000"/>
              </a:solidFill>
            </a:endParaRPr>
          </a:p>
          <a:p>
            <a:endParaRPr lang="en-US" dirty="0">
              <a:solidFill>
                <a:srgbClr val="C00000"/>
              </a:solidFill>
            </a:endParaRPr>
          </a:p>
        </p:txBody>
      </p:sp>
      <p:sp>
        <p:nvSpPr>
          <p:cNvPr id="4" name="Rectangle 3">
            <a:extLst>
              <a:ext uri="{FF2B5EF4-FFF2-40B4-BE49-F238E27FC236}">
                <a16:creationId xmlns:a16="http://schemas.microsoft.com/office/drawing/2014/main" id="{A8531876-E307-F055-C560-2C415F581AEF}"/>
              </a:ext>
            </a:extLst>
          </p:cNvPr>
          <p:cNvSpPr/>
          <p:nvPr/>
        </p:nvSpPr>
        <p:spPr>
          <a:xfrm>
            <a:off x="2116" y="2116"/>
            <a:ext cx="1498600" cy="6858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red text on a black background&#10;&#10;Description automatically generated">
            <a:extLst>
              <a:ext uri="{FF2B5EF4-FFF2-40B4-BE49-F238E27FC236}">
                <a16:creationId xmlns:a16="http://schemas.microsoft.com/office/drawing/2014/main" id="{1DFA539F-8CDA-7270-94A9-50FB409B9335}"/>
              </a:ext>
            </a:extLst>
          </p:cNvPr>
          <p:cNvPicPr>
            <a:picLocks noChangeAspect="1"/>
          </p:cNvPicPr>
          <p:nvPr/>
        </p:nvPicPr>
        <p:blipFill>
          <a:blip r:embed="rId2"/>
          <a:stretch>
            <a:fillRect/>
          </a:stretch>
        </p:blipFill>
        <p:spPr>
          <a:xfrm>
            <a:off x="10020300" y="0"/>
            <a:ext cx="2984500" cy="723900"/>
          </a:xfrm>
          <a:prstGeom prst="rect">
            <a:avLst/>
          </a:prstGeom>
        </p:spPr>
      </p:pic>
      <p:sp>
        <p:nvSpPr>
          <p:cNvPr id="7" name="TextBox 6">
            <a:extLst>
              <a:ext uri="{FF2B5EF4-FFF2-40B4-BE49-F238E27FC236}">
                <a16:creationId xmlns:a16="http://schemas.microsoft.com/office/drawing/2014/main" id="{94F28532-6686-D868-6078-8A915F100B1B}"/>
              </a:ext>
            </a:extLst>
          </p:cNvPr>
          <p:cNvSpPr txBox="1"/>
          <p:nvPr/>
        </p:nvSpPr>
        <p:spPr>
          <a:xfrm>
            <a:off x="1658054" y="1629832"/>
            <a:ext cx="579261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rgbClr val="C00000"/>
                </a:solidFill>
              </a:rPr>
              <a:t>React.js:</a:t>
            </a:r>
          </a:p>
        </p:txBody>
      </p:sp>
    </p:spTree>
    <p:extLst>
      <p:ext uri="{BB962C8B-B14F-4D97-AF65-F5344CB8AC3E}">
        <p14:creationId xmlns:p14="http://schemas.microsoft.com/office/powerpoint/2010/main" val="924248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C8058-214C-5631-6F4B-6EA579203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D2E91-E814-415B-F881-396DFE52B55D}"/>
              </a:ext>
            </a:extLst>
          </p:cNvPr>
          <p:cNvSpPr>
            <a:spLocks noGrp="1"/>
          </p:cNvSpPr>
          <p:nvPr>
            <p:ph type="title"/>
          </p:nvPr>
        </p:nvSpPr>
        <p:spPr>
          <a:xfrm>
            <a:off x="1504950" y="466725"/>
            <a:ext cx="9848850" cy="1249363"/>
          </a:xfrm>
        </p:spPr>
        <p:txBody>
          <a:bodyPr/>
          <a:lstStyle/>
          <a:p>
            <a:r>
              <a:rPr lang="en-US" dirty="0">
                <a:solidFill>
                  <a:srgbClr val="C00000"/>
                </a:solidFill>
              </a:rPr>
              <a:t>Concepts and Topics Covered</a:t>
            </a:r>
          </a:p>
        </p:txBody>
      </p:sp>
      <p:sp>
        <p:nvSpPr>
          <p:cNvPr id="3" name="Content Placeholder 2">
            <a:extLst>
              <a:ext uri="{FF2B5EF4-FFF2-40B4-BE49-F238E27FC236}">
                <a16:creationId xmlns:a16="http://schemas.microsoft.com/office/drawing/2014/main" id="{8954F699-0575-8DDF-67A7-61DCDEE1D199}"/>
              </a:ext>
            </a:extLst>
          </p:cNvPr>
          <p:cNvSpPr>
            <a:spLocks noGrp="1"/>
          </p:cNvSpPr>
          <p:nvPr>
            <p:ph idx="1"/>
          </p:nvPr>
        </p:nvSpPr>
        <p:spPr>
          <a:xfrm>
            <a:off x="1575506" y="2204508"/>
            <a:ext cx="9848850" cy="3146955"/>
          </a:xfrm>
        </p:spPr>
        <p:txBody>
          <a:bodyPr vert="horz" lIns="91440" tIns="45720" rIns="91440" bIns="45720" rtlCol="0" anchor="t">
            <a:normAutofit fontScale="62500" lnSpcReduction="20000"/>
          </a:bodyPr>
          <a:lstStyle/>
          <a:p>
            <a:r>
              <a:rPr lang="en-US" sz="3200" dirty="0">
                <a:solidFill>
                  <a:srgbClr val="C00000"/>
                </a:solidFill>
              </a:rPr>
              <a:t>Modules in Node.js.</a:t>
            </a:r>
          </a:p>
          <a:p>
            <a:r>
              <a:rPr lang="en-US" sz="3200" dirty="0">
                <a:solidFill>
                  <a:srgbClr val="C00000"/>
                </a:solidFill>
              </a:rPr>
              <a:t>Insert , select, where, update and joins for </a:t>
            </a:r>
            <a:r>
              <a:rPr lang="en-US" sz="3200" dirty="0" err="1">
                <a:solidFill>
                  <a:srgbClr val="C00000"/>
                </a:solidFill>
              </a:rPr>
              <a:t>MySql</a:t>
            </a:r>
            <a:r>
              <a:rPr lang="en-US" sz="3200" dirty="0">
                <a:solidFill>
                  <a:srgbClr val="C00000"/>
                </a:solidFill>
              </a:rPr>
              <a:t>.</a:t>
            </a:r>
          </a:p>
          <a:p>
            <a:r>
              <a:rPr lang="en-US" sz="3200" dirty="0">
                <a:solidFill>
                  <a:srgbClr val="C00000"/>
                </a:solidFill>
              </a:rPr>
              <a:t>Route handling in Express.js.</a:t>
            </a:r>
          </a:p>
          <a:p>
            <a:r>
              <a:rPr lang="en-US" sz="3200" dirty="0">
                <a:solidFill>
                  <a:srgbClr val="C00000"/>
                </a:solidFill>
              </a:rPr>
              <a:t>HTTP Methods Like get , put ,post and delete in Express.js</a:t>
            </a:r>
          </a:p>
          <a:p>
            <a:r>
              <a:rPr lang="en-US" sz="3200" dirty="0">
                <a:solidFill>
                  <a:srgbClr val="C00000"/>
                </a:solidFill>
              </a:rPr>
              <a:t>Middleware Building and Execution order Of the Application.</a:t>
            </a:r>
          </a:p>
          <a:p>
            <a:r>
              <a:rPr lang="en-US" sz="3200" dirty="0">
                <a:solidFill>
                  <a:srgbClr val="C00000"/>
                </a:solidFill>
              </a:rPr>
              <a:t>CORS in Express.js</a:t>
            </a:r>
          </a:p>
          <a:p>
            <a:r>
              <a:rPr lang="en-US" sz="3200" dirty="0">
                <a:solidFill>
                  <a:srgbClr val="C00000"/>
                </a:solidFill>
              </a:rPr>
              <a:t>Express Session and cookies For session management.</a:t>
            </a:r>
          </a:p>
          <a:p>
            <a:endParaRPr lang="en-US" sz="2000" dirty="0">
              <a:solidFill>
                <a:srgbClr val="C00000"/>
              </a:solidFill>
            </a:endParaRPr>
          </a:p>
          <a:p>
            <a:endParaRPr lang="en-US" sz="2000" dirty="0">
              <a:solidFill>
                <a:srgbClr val="C00000"/>
              </a:solidFill>
            </a:endParaRPr>
          </a:p>
          <a:p>
            <a:pPr marL="0" indent="0">
              <a:buNone/>
            </a:pPr>
            <a:r>
              <a:rPr lang="en-US" sz="2000" dirty="0">
                <a:solidFill>
                  <a:srgbClr val="C00000"/>
                </a:solidFill>
              </a:rPr>
              <a:t>  </a:t>
            </a:r>
            <a:endParaRPr lang="en-US" dirty="0"/>
          </a:p>
          <a:p>
            <a:endParaRPr lang="en-US" dirty="0">
              <a:solidFill>
                <a:srgbClr val="C00000"/>
              </a:solidFill>
            </a:endParaRPr>
          </a:p>
          <a:p>
            <a:endParaRPr lang="en-US" dirty="0">
              <a:solidFill>
                <a:srgbClr val="C00000"/>
              </a:solidFill>
            </a:endParaRPr>
          </a:p>
          <a:p>
            <a:endParaRPr lang="en-US" dirty="0">
              <a:solidFill>
                <a:srgbClr val="C00000"/>
              </a:solidFill>
            </a:endParaRPr>
          </a:p>
        </p:txBody>
      </p:sp>
      <p:sp>
        <p:nvSpPr>
          <p:cNvPr id="4" name="Rectangle 3">
            <a:extLst>
              <a:ext uri="{FF2B5EF4-FFF2-40B4-BE49-F238E27FC236}">
                <a16:creationId xmlns:a16="http://schemas.microsoft.com/office/drawing/2014/main" id="{35271D88-1658-89F5-21FF-B19F1E546C9D}"/>
              </a:ext>
            </a:extLst>
          </p:cNvPr>
          <p:cNvSpPr/>
          <p:nvPr/>
        </p:nvSpPr>
        <p:spPr>
          <a:xfrm>
            <a:off x="2116" y="2116"/>
            <a:ext cx="1498600" cy="6858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red text on a black background&#10;&#10;Description automatically generated">
            <a:extLst>
              <a:ext uri="{FF2B5EF4-FFF2-40B4-BE49-F238E27FC236}">
                <a16:creationId xmlns:a16="http://schemas.microsoft.com/office/drawing/2014/main" id="{517E0451-19E5-901D-DE09-7A72E2DD7B04}"/>
              </a:ext>
            </a:extLst>
          </p:cNvPr>
          <p:cNvPicPr>
            <a:picLocks noChangeAspect="1"/>
          </p:cNvPicPr>
          <p:nvPr/>
        </p:nvPicPr>
        <p:blipFill>
          <a:blip r:embed="rId2"/>
          <a:stretch>
            <a:fillRect/>
          </a:stretch>
        </p:blipFill>
        <p:spPr>
          <a:xfrm>
            <a:off x="10020300" y="0"/>
            <a:ext cx="2984500" cy="723900"/>
          </a:xfrm>
          <a:prstGeom prst="rect">
            <a:avLst/>
          </a:prstGeom>
        </p:spPr>
      </p:pic>
      <p:sp>
        <p:nvSpPr>
          <p:cNvPr id="7" name="TextBox 6">
            <a:extLst>
              <a:ext uri="{FF2B5EF4-FFF2-40B4-BE49-F238E27FC236}">
                <a16:creationId xmlns:a16="http://schemas.microsoft.com/office/drawing/2014/main" id="{22A8D685-638F-B4F5-A11F-142829EFAEC4}"/>
              </a:ext>
            </a:extLst>
          </p:cNvPr>
          <p:cNvSpPr txBox="1"/>
          <p:nvPr/>
        </p:nvSpPr>
        <p:spPr>
          <a:xfrm>
            <a:off x="1658054" y="1629832"/>
            <a:ext cx="579261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rgbClr val="C00000"/>
                </a:solidFill>
              </a:rPr>
              <a:t>Node.js/Express.js:</a:t>
            </a:r>
          </a:p>
        </p:txBody>
      </p:sp>
    </p:spTree>
    <p:extLst>
      <p:ext uri="{BB962C8B-B14F-4D97-AF65-F5344CB8AC3E}">
        <p14:creationId xmlns:p14="http://schemas.microsoft.com/office/powerpoint/2010/main" val="26862198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351</Words>
  <Application>Microsoft Office PowerPoint</Application>
  <PresentationFormat>Widescreen</PresentationFormat>
  <Paragraphs>55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VIRTUAL MACHINE DABOARD</vt:lpstr>
      <vt:lpstr>USER PORTAL</vt:lpstr>
      <vt:lpstr>ADMIN PORTAL</vt:lpstr>
      <vt:lpstr>Implementation</vt:lpstr>
      <vt:lpstr>Concepts and Topics Covered</vt:lpstr>
      <vt:lpstr>Concepts and Topics Covered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Software Engineering</cp:lastModifiedBy>
  <cp:revision>214</cp:revision>
  <dcterms:created xsi:type="dcterms:W3CDTF">2025-01-05T13:20:17Z</dcterms:created>
  <dcterms:modified xsi:type="dcterms:W3CDTF">2025-01-06T12:53:16Z</dcterms:modified>
</cp:coreProperties>
</file>